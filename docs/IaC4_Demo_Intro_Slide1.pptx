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60520" cy="5143500"/>
          </a:xfrm>
          <a:prstGeom prst="rect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160520" cy="64008"/>
          </a:xfrm>
          <a:prstGeom prst="rect">
            <a:avLst/>
          </a:prstGeom>
          <a:solidFill>
            <a:srgbClr val="B30000"/>
          </a:solidFill>
          <a:ln w="12700">
            <a:solidFill>
              <a:srgbClr val="B3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60520" y="137160"/>
            <a:ext cx="0" cy="484632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25603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250" kern="0" dirty="0">
                <a:solidFill>
                  <a:srgbClr val="B3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CLOUD INFRASTRUCTURE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274320" y="45720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IaC4 — From Intent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Infrastructure.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" y="1389888"/>
            <a:ext cx="361188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481328"/>
            <a:ext cx="3611880" cy="777240"/>
          </a:xfrm>
          <a:prstGeom prst="rect">
            <a:avLst/>
          </a:prstGeom>
          <a:solidFill>
            <a:srgbClr val="FDECEA"/>
          </a:solidFill>
          <a:ln w="6350">
            <a:solidFill>
              <a:srgbClr val="E8A09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481328"/>
            <a:ext cx="54864" cy="777240"/>
          </a:xfrm>
          <a:prstGeom prst="rect">
            <a:avLst/>
          </a:prstGeom>
          <a:solidFill>
            <a:srgbClr val="B30000"/>
          </a:solidFill>
          <a:ln w="12700">
            <a:solidFill>
              <a:srgbClr val="B3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2336" y="1481328"/>
            <a:ext cx="342900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820" i="1" dirty="0">
                <a:solidFill>
                  <a:srgbClr val="6B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multi-agent AI platform that turns natural language or Excel templates into production-ready Terraform code — with built-in compliance, auto-review, and one-click cloud deployment.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274320" y="2377440"/>
            <a:ext cx="361188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377440"/>
            <a:ext cx="45720" cy="374904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" y="2478024"/>
            <a:ext cx="201168" cy="201168"/>
          </a:xfrm>
          <a:prstGeom prst="ellipse">
            <a:avLst/>
          </a:prstGeom>
          <a:solidFill>
            <a:srgbClr val="F5F0FB"/>
          </a:solidFill>
          <a:ln w="6350">
            <a:solidFill>
              <a:srgbClr val="6B3FA0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056" y="2514600"/>
            <a:ext cx="128016" cy="128016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713232" y="2377440"/>
            <a:ext cx="31089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Workflow  </a:t>
            </a:r>
            <a:pPr indent="0" marL="0">
              <a:buNone/>
            </a:pPr>
            <a:r>
              <a:rPr lang="en-US" sz="82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specialised AI agents collaborate — parse, validate, check, generate &amp; review</a:t>
            </a:r>
            <a:endParaRPr lang="en-US" sz="820" dirty="0"/>
          </a:p>
        </p:txBody>
      </p:sp>
      <p:sp>
        <p:nvSpPr>
          <p:cNvPr id="16" name="Shape 13"/>
          <p:cNvSpPr/>
          <p:nvPr/>
        </p:nvSpPr>
        <p:spPr>
          <a:xfrm>
            <a:off x="274320" y="2811780"/>
            <a:ext cx="361188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274320" y="2811780"/>
            <a:ext cx="45720" cy="374904"/>
          </a:xfrm>
          <a:prstGeom prst="rect">
            <a:avLst/>
          </a:prstGeom>
          <a:solidFill>
            <a:srgbClr val="1A5FAB"/>
          </a:solidFill>
          <a:ln w="12700">
            <a:solidFill>
              <a:srgbClr val="1A5FA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11480" y="2912364"/>
            <a:ext cx="201168" cy="201168"/>
          </a:xfrm>
          <a:prstGeom prst="ellipse">
            <a:avLst/>
          </a:prstGeom>
          <a:solidFill>
            <a:srgbClr val="EEF4FB"/>
          </a:solidFill>
          <a:ln w="6350">
            <a:solidFill>
              <a:srgbClr val="1A5FAB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" y="2948940"/>
            <a:ext cx="128016" cy="128016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13232" y="2811780"/>
            <a:ext cx="31089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&amp; Azure Dual-Cloud  </a:t>
            </a:r>
            <a:pPr indent="0" marL="0">
              <a:buNone/>
            </a:pPr>
            <a:r>
              <a:rPr lang="en-US" sz="82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enterprise Terraform modules covering VPC, VM, RDS, AKS, Storage and more</a:t>
            </a:r>
            <a:endParaRPr lang="en-US" sz="820" dirty="0"/>
          </a:p>
        </p:txBody>
      </p:sp>
      <p:sp>
        <p:nvSpPr>
          <p:cNvPr id="21" name="Shape 17"/>
          <p:cNvSpPr/>
          <p:nvPr/>
        </p:nvSpPr>
        <p:spPr>
          <a:xfrm>
            <a:off x="274320" y="3246120"/>
            <a:ext cx="361188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274320" y="3246120"/>
            <a:ext cx="45720" cy="374904"/>
          </a:xfrm>
          <a:prstGeom prst="rect">
            <a:avLst/>
          </a:prstGeom>
          <a:solidFill>
            <a:srgbClr val="1A7A3C"/>
          </a:solidFill>
          <a:ln w="12700">
            <a:solidFill>
              <a:srgbClr val="1A7A3C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11480" y="3346704"/>
            <a:ext cx="201168" cy="201168"/>
          </a:xfrm>
          <a:prstGeom prst="ellipse">
            <a:avLst/>
          </a:prstGeom>
          <a:solidFill>
            <a:srgbClr val="EDF7F1"/>
          </a:solidFill>
          <a:ln w="6350">
            <a:solidFill>
              <a:srgbClr val="1A7A3C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" y="3383280"/>
            <a:ext cx="128016" cy="128016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713232" y="3246120"/>
            <a:ext cx="31089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Shift-Left  </a:t>
            </a:r>
            <a:pPr indent="0" marL="0">
              <a:buNone/>
            </a:pPr>
            <a:r>
              <a:rPr lang="en-US" sz="82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engine blocks risky configs before a single line of code is written</a:t>
            </a:r>
            <a:endParaRPr lang="en-US" sz="820" dirty="0"/>
          </a:p>
        </p:txBody>
      </p:sp>
      <p:sp>
        <p:nvSpPr>
          <p:cNvPr id="26" name="Shape 21"/>
          <p:cNvSpPr/>
          <p:nvPr/>
        </p:nvSpPr>
        <p:spPr>
          <a:xfrm>
            <a:off x="274320" y="3680460"/>
            <a:ext cx="361188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274320" y="3680460"/>
            <a:ext cx="45720" cy="37490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411480" y="3781044"/>
            <a:ext cx="201168" cy="201168"/>
          </a:xfrm>
          <a:prstGeom prst="ellipse">
            <a:avLst/>
          </a:prstGeom>
          <a:solidFill>
            <a:srgbClr val="E8F6F7"/>
          </a:solidFill>
          <a:ln w="6350">
            <a:solidFill>
              <a:srgbClr val="0D7377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" y="3817620"/>
            <a:ext cx="128016" cy="128016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13232" y="3680460"/>
            <a:ext cx="31089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Self-Correcting Code  </a:t>
            </a:r>
            <a:pPr indent="0" marL="0">
              <a:buNone/>
            </a:pPr>
            <a:r>
              <a:rPr lang="en-US" sz="82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Actor-Critic loop auto-fixes deprecated syntax and version conflicts up to 3x</a:t>
            </a:r>
            <a:endParaRPr lang="en-US" sz="820" dirty="0"/>
          </a:p>
        </p:txBody>
      </p:sp>
      <p:sp>
        <p:nvSpPr>
          <p:cNvPr id="31" name="Shape 25"/>
          <p:cNvSpPr/>
          <p:nvPr/>
        </p:nvSpPr>
        <p:spPr>
          <a:xfrm>
            <a:off x="274320" y="4114800"/>
            <a:ext cx="361188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274320" y="4114800"/>
            <a:ext cx="45720" cy="374904"/>
          </a:xfrm>
          <a:prstGeom prst="rect">
            <a:avLst/>
          </a:prstGeom>
          <a:solidFill>
            <a:srgbClr val="D4700A"/>
          </a:solidFill>
          <a:ln w="12700">
            <a:solidFill>
              <a:srgbClr val="D4700A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411480" y="4215384"/>
            <a:ext cx="201168" cy="201168"/>
          </a:xfrm>
          <a:prstGeom prst="ellipse">
            <a:avLst/>
          </a:prstGeom>
          <a:solidFill>
            <a:srgbClr val="FFF8F0"/>
          </a:solidFill>
          <a:ln w="6350">
            <a:solidFill>
              <a:srgbClr val="D4700A"/>
            </a:solidFill>
            <a:prstDash val="solid"/>
          </a:ln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056" y="4251960"/>
            <a:ext cx="128016" cy="128016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713232" y="4114800"/>
            <a:ext cx="31089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One-Click Deploy  </a:t>
            </a:r>
            <a:pPr indent="0" marL="0">
              <a:buNone/>
            </a:pPr>
            <a:r>
              <a:rPr lang="en-US" sz="82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 Terraform executor — Plan, Apply &amp; Destroy straight from the browser</a:t>
            </a:r>
            <a:endParaRPr lang="en-US" sz="820" dirty="0"/>
          </a:p>
        </p:txBody>
      </p:sp>
      <p:sp>
        <p:nvSpPr>
          <p:cNvPr id="36" name="Text 29"/>
          <p:cNvSpPr/>
          <p:nvPr/>
        </p:nvSpPr>
        <p:spPr>
          <a:xfrm>
            <a:off x="4389120" y="256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250" kern="0" dirty="0">
                <a:solidFill>
                  <a:srgbClr val="D470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SCENARIO</a:t>
            </a:r>
            <a:endParaRPr lang="en-US" sz="650" dirty="0"/>
          </a:p>
        </p:txBody>
      </p:sp>
      <p:sp>
        <p:nvSpPr>
          <p:cNvPr id="37" name="Text 30"/>
          <p:cNvSpPr/>
          <p:nvPr/>
        </p:nvSpPr>
        <p:spPr>
          <a:xfrm>
            <a:off x="4389120" y="4572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Excel Upload.</a:t>
            </a:r>
            <a:endParaRPr lang="en-US" sz="1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Complete 3-Tier Cloud Stack.</a:t>
            </a:r>
            <a:endParaRPr lang="en-US" sz="1900" dirty="0"/>
          </a:p>
        </p:txBody>
      </p:sp>
      <p:sp>
        <p:nvSpPr>
          <p:cNvPr id="38" name="Shape 31"/>
          <p:cNvSpPr/>
          <p:nvPr/>
        </p:nvSpPr>
        <p:spPr>
          <a:xfrm>
            <a:off x="4389120" y="1389888"/>
            <a:ext cx="45720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39" name="Shape 32"/>
          <p:cNvSpPr/>
          <p:nvPr/>
        </p:nvSpPr>
        <p:spPr>
          <a:xfrm>
            <a:off x="4389120" y="1481328"/>
            <a:ext cx="4572000" cy="749808"/>
          </a:xfrm>
          <a:prstGeom prst="rect">
            <a:avLst/>
          </a:prstGeom>
          <a:solidFill>
            <a:srgbClr val="EEF4FB"/>
          </a:solidFill>
          <a:ln w="10160">
            <a:solidFill>
              <a:srgbClr val="1A5FAB"/>
            </a:solidFill>
            <a:prstDash val="solid"/>
          </a:ln>
        </p:spPr>
      </p:sp>
      <p:sp>
        <p:nvSpPr>
          <p:cNvPr id="40" name="Shape 33"/>
          <p:cNvSpPr/>
          <p:nvPr/>
        </p:nvSpPr>
        <p:spPr>
          <a:xfrm>
            <a:off x="4389120" y="1481328"/>
            <a:ext cx="54864" cy="749808"/>
          </a:xfrm>
          <a:prstGeom prst="rect">
            <a:avLst/>
          </a:prstGeom>
          <a:solidFill>
            <a:srgbClr val="1A5FAB"/>
          </a:solidFill>
          <a:ln w="12700">
            <a:solidFill>
              <a:srgbClr val="1A5FAB"/>
            </a:solidFill>
            <a:prstDash val="solid"/>
          </a:ln>
        </p:spPr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35424" y="1581912"/>
            <a:ext cx="292608" cy="292608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4901184" y="1481328"/>
            <a:ext cx="4005072" cy="7498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850" i="1" dirty="0">
                <a:solidFill>
                  <a:srgbClr val="1A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engineer uploads a single Excel file defining a classic 3-tier app — frontend, backend, and database. IaC4 instantly provisions all required cloud resources across every layer, fully configured and ready to deploy.</a:t>
            </a:r>
            <a:endParaRPr lang="en-US" sz="850" dirty="0"/>
          </a:p>
        </p:txBody>
      </p:sp>
      <p:sp>
        <p:nvSpPr>
          <p:cNvPr id="43" name="Shape 35"/>
          <p:cNvSpPr/>
          <p:nvPr/>
        </p:nvSpPr>
        <p:spPr>
          <a:xfrm>
            <a:off x="4389120" y="2359152"/>
            <a:ext cx="146304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4" name="Shape 36"/>
          <p:cNvSpPr/>
          <p:nvPr/>
        </p:nvSpPr>
        <p:spPr>
          <a:xfrm>
            <a:off x="4389120" y="2359152"/>
            <a:ext cx="1463040" cy="64008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45" name="Shape 37"/>
          <p:cNvSpPr/>
          <p:nvPr/>
        </p:nvSpPr>
        <p:spPr>
          <a:xfrm>
            <a:off x="4526280" y="2505456"/>
            <a:ext cx="384048" cy="384048"/>
          </a:xfrm>
          <a:prstGeom prst="ellipse">
            <a:avLst/>
          </a:prstGeom>
          <a:solidFill>
            <a:srgbClr val="F5F0FB"/>
          </a:solidFill>
          <a:ln w="6350">
            <a:solidFill>
              <a:srgbClr val="6B3FA0"/>
            </a:solidFill>
            <a:prstDash val="solid"/>
          </a:ln>
        </p:spPr>
      </p:sp>
      <p:pic>
        <p:nvPicPr>
          <p:cNvPr id="4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08576" y="2587752"/>
            <a:ext cx="219456" cy="219456"/>
          </a:xfrm>
          <a:prstGeom prst="rect">
            <a:avLst/>
          </a:prstGeom>
        </p:spPr>
      </p:pic>
      <p:sp>
        <p:nvSpPr>
          <p:cNvPr id="47" name="Text 38"/>
          <p:cNvSpPr/>
          <p:nvPr/>
        </p:nvSpPr>
        <p:spPr>
          <a:xfrm>
            <a:off x="4983480" y="2487168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6B3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100" dirty="0"/>
          </a:p>
        </p:txBody>
      </p:sp>
      <p:sp>
        <p:nvSpPr>
          <p:cNvPr id="48" name="Text 39"/>
          <p:cNvSpPr/>
          <p:nvPr/>
        </p:nvSpPr>
        <p:spPr>
          <a:xfrm>
            <a:off x="4480560" y="298094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&amp; Parse</a:t>
            </a:r>
            <a:endParaRPr lang="en-US" sz="950" dirty="0"/>
          </a:p>
        </p:txBody>
      </p:sp>
      <p:sp>
        <p:nvSpPr>
          <p:cNvPr id="49" name="Shape 40"/>
          <p:cNvSpPr/>
          <p:nvPr/>
        </p:nvSpPr>
        <p:spPr>
          <a:xfrm>
            <a:off x="4480560" y="3291840"/>
            <a:ext cx="128016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0" name="Text 41"/>
          <p:cNvSpPr/>
          <p:nvPr/>
        </p:nvSpPr>
        <p:spPr>
          <a:xfrm>
            <a:off x="4480560" y="3346704"/>
            <a:ext cx="1280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72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 uploads an Excel file. IaC4 parses every sheet — mapping frontend, backend, and database resources into a structured deployment plan.</a:t>
            </a:r>
            <a:endParaRPr lang="en-US" sz="720" dirty="0"/>
          </a:p>
        </p:txBody>
      </p:sp>
      <p:sp>
        <p:nvSpPr>
          <p:cNvPr id="51" name="Shape 42"/>
          <p:cNvSpPr/>
          <p:nvPr/>
        </p:nvSpPr>
        <p:spPr>
          <a:xfrm>
            <a:off x="5943600" y="2359152"/>
            <a:ext cx="146304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2" name="Shape 43"/>
          <p:cNvSpPr/>
          <p:nvPr/>
        </p:nvSpPr>
        <p:spPr>
          <a:xfrm>
            <a:off x="5943600" y="2359152"/>
            <a:ext cx="1463040" cy="64008"/>
          </a:xfrm>
          <a:prstGeom prst="rect">
            <a:avLst/>
          </a:prstGeom>
          <a:solidFill>
            <a:srgbClr val="1A7A3C"/>
          </a:solidFill>
          <a:ln w="12700">
            <a:solidFill>
              <a:srgbClr val="1A7A3C"/>
            </a:solidFill>
            <a:prstDash val="solid"/>
          </a:ln>
        </p:spPr>
      </p:sp>
      <p:sp>
        <p:nvSpPr>
          <p:cNvPr id="53" name="Shape 44"/>
          <p:cNvSpPr/>
          <p:nvPr/>
        </p:nvSpPr>
        <p:spPr>
          <a:xfrm>
            <a:off x="6080760" y="2505456"/>
            <a:ext cx="384048" cy="384048"/>
          </a:xfrm>
          <a:prstGeom prst="ellipse">
            <a:avLst/>
          </a:prstGeom>
          <a:solidFill>
            <a:srgbClr val="EDF7F1"/>
          </a:solidFill>
          <a:ln w="6350">
            <a:solidFill>
              <a:srgbClr val="1A7A3C"/>
            </a:solidFill>
            <a:prstDash val="solid"/>
          </a:ln>
        </p:spPr>
      </p:sp>
      <p:pic>
        <p:nvPicPr>
          <p:cNvPr id="5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63056" y="2587752"/>
            <a:ext cx="219456" cy="219456"/>
          </a:xfrm>
          <a:prstGeom prst="rect">
            <a:avLst/>
          </a:prstGeom>
        </p:spPr>
      </p:pic>
      <p:sp>
        <p:nvSpPr>
          <p:cNvPr id="55" name="Text 45"/>
          <p:cNvSpPr/>
          <p:nvPr/>
        </p:nvSpPr>
        <p:spPr>
          <a:xfrm>
            <a:off x="6537960" y="2487168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7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100" dirty="0"/>
          </a:p>
        </p:txBody>
      </p:sp>
      <p:sp>
        <p:nvSpPr>
          <p:cNvPr id="56" name="Text 46"/>
          <p:cNvSpPr/>
          <p:nvPr/>
        </p:nvSpPr>
        <p:spPr>
          <a:xfrm>
            <a:off x="6035040" y="298094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&amp; Generate</a:t>
            </a:r>
            <a:endParaRPr lang="en-US" sz="950" dirty="0"/>
          </a:p>
        </p:txBody>
      </p:sp>
      <p:sp>
        <p:nvSpPr>
          <p:cNvPr id="57" name="Shape 47"/>
          <p:cNvSpPr/>
          <p:nvPr/>
        </p:nvSpPr>
        <p:spPr>
          <a:xfrm>
            <a:off x="6035040" y="3291840"/>
            <a:ext cx="128016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8" name="Text 48"/>
          <p:cNvSpPr/>
          <p:nvPr/>
        </p:nvSpPr>
        <p:spPr>
          <a:xfrm>
            <a:off x="6035040" y="3346704"/>
            <a:ext cx="1280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72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agent scans all three tiers. Code Generator renders a full Terraform codebase — VNet, VMs, Load Balancer, SQL — in seconds.</a:t>
            </a:r>
            <a:endParaRPr lang="en-US" sz="720" dirty="0"/>
          </a:p>
        </p:txBody>
      </p:sp>
      <p:sp>
        <p:nvSpPr>
          <p:cNvPr id="59" name="Shape 49"/>
          <p:cNvSpPr/>
          <p:nvPr/>
        </p:nvSpPr>
        <p:spPr>
          <a:xfrm>
            <a:off x="7498080" y="2359152"/>
            <a:ext cx="146304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0" name="Shape 50"/>
          <p:cNvSpPr/>
          <p:nvPr/>
        </p:nvSpPr>
        <p:spPr>
          <a:xfrm>
            <a:off x="7498080" y="2359152"/>
            <a:ext cx="1463040" cy="64008"/>
          </a:xfrm>
          <a:prstGeom prst="rect">
            <a:avLst/>
          </a:prstGeom>
          <a:solidFill>
            <a:srgbClr val="D4700A"/>
          </a:solidFill>
          <a:ln w="12700">
            <a:solidFill>
              <a:srgbClr val="D4700A"/>
            </a:solidFill>
            <a:prstDash val="solid"/>
          </a:ln>
        </p:spPr>
      </p:sp>
      <p:sp>
        <p:nvSpPr>
          <p:cNvPr id="61" name="Shape 51"/>
          <p:cNvSpPr/>
          <p:nvPr/>
        </p:nvSpPr>
        <p:spPr>
          <a:xfrm>
            <a:off x="7635240" y="2505456"/>
            <a:ext cx="384048" cy="384048"/>
          </a:xfrm>
          <a:prstGeom prst="ellipse">
            <a:avLst/>
          </a:prstGeom>
          <a:solidFill>
            <a:srgbClr val="FFF8F0"/>
          </a:solidFill>
          <a:ln w="6350">
            <a:solidFill>
              <a:srgbClr val="D4700A"/>
            </a:solidFill>
            <a:prstDash val="solid"/>
          </a:ln>
        </p:spPr>
      </p:sp>
      <p:pic>
        <p:nvPicPr>
          <p:cNvPr id="6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17536" y="2587752"/>
            <a:ext cx="219456" cy="219456"/>
          </a:xfrm>
          <a:prstGeom prst="rect">
            <a:avLst/>
          </a:prstGeom>
        </p:spPr>
      </p:pic>
      <p:sp>
        <p:nvSpPr>
          <p:cNvPr id="63" name="Text 52"/>
          <p:cNvSpPr/>
          <p:nvPr/>
        </p:nvSpPr>
        <p:spPr>
          <a:xfrm>
            <a:off x="8092440" y="2487168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D470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100" dirty="0"/>
          </a:p>
        </p:txBody>
      </p:sp>
      <p:sp>
        <p:nvSpPr>
          <p:cNvPr id="64" name="Text 53"/>
          <p:cNvSpPr/>
          <p:nvPr/>
        </p:nvSpPr>
        <p:spPr>
          <a:xfrm>
            <a:off x="7589520" y="298094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in One Click</a:t>
            </a:r>
            <a:endParaRPr lang="en-US" sz="950" dirty="0"/>
          </a:p>
        </p:txBody>
      </p:sp>
      <p:sp>
        <p:nvSpPr>
          <p:cNvPr id="65" name="Shape 54"/>
          <p:cNvSpPr/>
          <p:nvPr/>
        </p:nvSpPr>
        <p:spPr>
          <a:xfrm>
            <a:off x="7589520" y="3291840"/>
            <a:ext cx="128016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66" name="Text 55"/>
          <p:cNvSpPr/>
          <p:nvPr/>
        </p:nvSpPr>
        <p:spPr>
          <a:xfrm>
            <a:off x="7589520" y="3346704"/>
            <a:ext cx="1280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72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previews the full stack. Apply provisions every layer on Azure or AWS — no terminal, no local config, no manual steps.</a:t>
            </a:r>
            <a:endParaRPr lang="en-US" sz="720" dirty="0"/>
          </a:p>
        </p:txBody>
      </p:sp>
      <p:sp>
        <p:nvSpPr>
          <p:cNvPr id="67" name="Text 56"/>
          <p:cNvSpPr/>
          <p:nvPr/>
        </p:nvSpPr>
        <p:spPr>
          <a:xfrm>
            <a:off x="4389120" y="4242816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3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10×</a:t>
            </a:r>
            <a:endParaRPr lang="en-US" sz="1400" dirty="0"/>
          </a:p>
        </p:txBody>
      </p:sp>
      <p:sp>
        <p:nvSpPr>
          <p:cNvPr id="68" name="Text 57"/>
          <p:cNvSpPr/>
          <p:nvPr/>
        </p:nvSpPr>
        <p:spPr>
          <a:xfrm>
            <a:off x="4389120" y="4489704"/>
            <a:ext cx="14264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Code Delivery</a:t>
            </a:r>
            <a:endParaRPr lang="en-US" sz="750" dirty="0"/>
          </a:p>
        </p:txBody>
      </p:sp>
      <p:sp>
        <p:nvSpPr>
          <p:cNvPr id="69" name="Text 58"/>
          <p:cNvSpPr/>
          <p:nvPr/>
        </p:nvSpPr>
        <p:spPr>
          <a:xfrm>
            <a:off x="5907024" y="4242816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3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</a:t>
            </a:r>
            <a:endParaRPr lang="en-US" sz="1400" dirty="0"/>
          </a:p>
        </p:txBody>
      </p:sp>
      <p:sp>
        <p:nvSpPr>
          <p:cNvPr id="70" name="Text 59"/>
          <p:cNvSpPr/>
          <p:nvPr/>
        </p:nvSpPr>
        <p:spPr>
          <a:xfrm>
            <a:off x="5907024" y="4489704"/>
            <a:ext cx="14264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 Hell</a:t>
            </a:r>
            <a:endParaRPr lang="en-US" sz="750" dirty="0"/>
          </a:p>
        </p:txBody>
      </p:sp>
      <p:sp>
        <p:nvSpPr>
          <p:cNvPr id="71" name="Text 60"/>
          <p:cNvSpPr/>
          <p:nvPr/>
        </p:nvSpPr>
        <p:spPr>
          <a:xfrm>
            <a:off x="7424928" y="4242816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3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400" dirty="0"/>
          </a:p>
        </p:txBody>
      </p:sp>
      <p:sp>
        <p:nvSpPr>
          <p:cNvPr id="72" name="Text 61"/>
          <p:cNvSpPr/>
          <p:nvPr/>
        </p:nvSpPr>
        <p:spPr>
          <a:xfrm>
            <a:off x="7424928" y="4489704"/>
            <a:ext cx="14264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by Default</a:t>
            </a:r>
            <a:endParaRPr lang="en-US" sz="750" dirty="0"/>
          </a:p>
        </p:txBody>
      </p:sp>
      <p:sp>
        <p:nvSpPr>
          <p:cNvPr id="73" name="Shape 62"/>
          <p:cNvSpPr/>
          <p:nvPr/>
        </p:nvSpPr>
        <p:spPr>
          <a:xfrm>
            <a:off x="4389120" y="4206240"/>
            <a:ext cx="4572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74" name="Shape 63"/>
          <p:cNvSpPr/>
          <p:nvPr/>
        </p:nvSpPr>
        <p:spPr>
          <a:xfrm>
            <a:off x="274320" y="4919472"/>
            <a:ext cx="859536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75" name="Text 64"/>
          <p:cNvSpPr/>
          <p:nvPr/>
        </p:nvSpPr>
        <p:spPr>
          <a:xfrm>
            <a:off x="274320" y="4956048"/>
            <a:ext cx="8595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Accenture  |  IaC4 Platform Demo  |  Confidential</a:t>
            </a:r>
            <a:endParaRPr lang="en-US" sz="650" dirty="0"/>
          </a:p>
        </p:txBody>
      </p:sp>
      <p:sp>
        <p:nvSpPr>
          <p:cNvPr id="76" name="Shape 65"/>
          <p:cNvSpPr/>
          <p:nvPr/>
        </p:nvSpPr>
        <p:spPr>
          <a:xfrm>
            <a:off x="274320" y="4572000"/>
            <a:ext cx="3611880" cy="329184"/>
          </a:xfrm>
          <a:prstGeom prst="rect">
            <a:avLst/>
          </a:prstGeom>
          <a:solidFill>
            <a:srgbClr val="B30000"/>
          </a:solidFill>
          <a:ln w="12700">
            <a:solidFill>
              <a:srgbClr val="B3000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pic>
        <p:nvPicPr>
          <p:cNvPr id="7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4048" y="4608576"/>
            <a:ext cx="237744" cy="237744"/>
          </a:xfrm>
          <a:prstGeom prst="rect">
            <a:avLst/>
          </a:prstGeom>
        </p:spPr>
      </p:pic>
      <p:sp>
        <p:nvSpPr>
          <p:cNvPr id="78" name="Text 66"/>
          <p:cNvSpPr/>
          <p:nvPr/>
        </p:nvSpPr>
        <p:spPr>
          <a:xfrm>
            <a:off x="694944" y="4572000"/>
            <a:ext cx="3081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the Demo  →  See the full workflow in action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2026-03-14T08:19:24Z</dcterms:created>
  <dcterms:modified xsi:type="dcterms:W3CDTF">2026-03-14T08:19:24Z</dcterms:modified>
</cp:coreProperties>
</file>