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IMS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4206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969264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Early-stage ideas — here to start a conversation, not conclude one.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146304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26464"/>
            <a:ext cx="1901952" cy="1572768"/>
          </a:xfrm>
          <a:prstGeom prst="rect">
            <a:avLst/>
          </a:prstGeom>
          <a:solidFill>
            <a:srgbClr val="FFFFFF"/>
          </a:solidFill>
          <a:ln w="762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26464"/>
            <a:ext cx="1901952" cy="50292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53619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24128" y="1545336"/>
            <a:ext cx="274320" cy="274320"/>
          </a:xfrm>
          <a:prstGeom prst="ellipse">
            <a:avLst/>
          </a:prstGeom>
          <a:solidFill>
            <a:srgbClr val="FDECEA"/>
          </a:solidFill>
          <a:ln w="5080">
            <a:solidFill>
              <a:srgbClr val="C8102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1609344"/>
            <a:ext cx="146304" cy="1463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5216" y="19019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lean product team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585216" y="2231136"/>
            <a:ext cx="1645920" cy="0"/>
          </a:xfrm>
          <a:prstGeom prst="line">
            <a:avLst/>
          </a:prstGeom>
          <a:noFill/>
          <a:ln w="5080">
            <a:solidFill>
              <a:srgbClr val="E0E0E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85216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small, dedicated crew focused on capability-building and fast iteration — not a committee, but a squad that ships.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505456" y="1426464"/>
            <a:ext cx="1901952" cy="1572768"/>
          </a:xfrm>
          <a:prstGeom prst="rect">
            <a:avLst/>
          </a:prstGeom>
          <a:solidFill>
            <a:srgbClr val="FFFFFF"/>
          </a:solidFill>
          <a:ln w="762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05456" y="1426464"/>
            <a:ext cx="1901952" cy="50292"/>
          </a:xfrm>
          <a:prstGeom prst="rect">
            <a:avLst/>
          </a:prstGeom>
          <a:solidFill>
            <a:srgbClr val="1A5FAB"/>
          </a:solidFill>
          <a:ln w="12700">
            <a:solidFill>
              <a:srgbClr val="1A5FA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33472" y="153619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5F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3072384" y="1545336"/>
            <a:ext cx="274320" cy="274320"/>
          </a:xfrm>
          <a:prstGeom prst="ellipse">
            <a:avLst/>
          </a:prstGeom>
          <a:solidFill>
            <a:srgbClr val="EEF4FB"/>
          </a:solidFill>
          <a:ln w="5080">
            <a:solidFill>
              <a:srgbClr val="1A5FA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1609344"/>
            <a:ext cx="146304" cy="14630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633472" y="19019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real landing project</a:t>
            </a:r>
            <a:endParaRPr lang="en-US" sz="980" dirty="0"/>
          </a:p>
        </p:txBody>
      </p:sp>
      <p:sp>
        <p:nvSpPr>
          <p:cNvPr id="21" name="Shape 17"/>
          <p:cNvSpPr/>
          <p:nvPr/>
        </p:nvSpPr>
        <p:spPr>
          <a:xfrm>
            <a:off x="2633472" y="2231136"/>
            <a:ext cx="1645920" cy="0"/>
          </a:xfrm>
          <a:prstGeom prst="line">
            <a:avLst/>
          </a:prstGeom>
          <a:noFill/>
          <a:ln w="5080">
            <a:solidFill>
              <a:srgbClr val="E0E0E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2633472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an actual client engagement to pilot in. Real constraints, real data, real feedback — the only way to truly harden the product.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457200" y="3127248"/>
            <a:ext cx="1901952" cy="1572768"/>
          </a:xfrm>
          <a:prstGeom prst="rect">
            <a:avLst/>
          </a:prstGeom>
          <a:solidFill>
            <a:srgbClr val="FFFFFF"/>
          </a:solidFill>
          <a:ln w="762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57200" y="3127248"/>
            <a:ext cx="1901952" cy="50292"/>
          </a:xfrm>
          <a:prstGeom prst="rect">
            <a:avLst/>
          </a:prstGeom>
          <a:solidFill>
            <a:srgbClr val="D4700A"/>
          </a:solidFill>
          <a:ln w="12700">
            <a:solidFill>
              <a:srgbClr val="D4700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85216" y="323697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7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024128" y="3246120"/>
            <a:ext cx="274320" cy="274320"/>
          </a:xfrm>
          <a:prstGeom prst="ellipse">
            <a:avLst/>
          </a:prstGeom>
          <a:solidFill>
            <a:srgbClr val="FFF4E5"/>
          </a:solidFill>
          <a:ln w="5080">
            <a:solidFill>
              <a:srgbClr val="D4700A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3310128"/>
            <a:ext cx="146304" cy="14630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585216" y="36027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the right first use case</a:t>
            </a:r>
            <a:endParaRPr lang="en-US" sz="980" dirty="0"/>
          </a:p>
        </p:txBody>
      </p:sp>
      <p:sp>
        <p:nvSpPr>
          <p:cNvPr id="29" name="Shape 24"/>
          <p:cNvSpPr/>
          <p:nvPr/>
        </p:nvSpPr>
        <p:spPr>
          <a:xfrm>
            <a:off x="585216" y="3931920"/>
            <a:ext cx="1645920" cy="0"/>
          </a:xfrm>
          <a:prstGeom prst="line">
            <a:avLst/>
          </a:prstGeom>
          <a:noFill/>
          <a:ln w="5080">
            <a:solidFill>
              <a:srgbClr val="E0E0E0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585216" y="39867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the flashiest — the one with a clear pain point, available data, and a measurable outcome. Early wins build momentum.</a:t>
            </a:r>
            <a:endParaRPr lang="en-US" sz="800" dirty="0"/>
          </a:p>
        </p:txBody>
      </p:sp>
      <p:sp>
        <p:nvSpPr>
          <p:cNvPr id="31" name="Shape 26"/>
          <p:cNvSpPr/>
          <p:nvPr/>
        </p:nvSpPr>
        <p:spPr>
          <a:xfrm>
            <a:off x="2505456" y="3127248"/>
            <a:ext cx="1901952" cy="1572768"/>
          </a:xfrm>
          <a:prstGeom prst="rect">
            <a:avLst/>
          </a:prstGeom>
          <a:solidFill>
            <a:srgbClr val="FFFFFF"/>
          </a:solidFill>
          <a:ln w="762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27"/>
          <p:cNvSpPr/>
          <p:nvPr/>
        </p:nvSpPr>
        <p:spPr>
          <a:xfrm>
            <a:off x="2505456" y="3127248"/>
            <a:ext cx="1901952" cy="50292"/>
          </a:xfrm>
          <a:prstGeom prst="rect">
            <a:avLst/>
          </a:prstGeom>
          <a:solidFill>
            <a:srgbClr val="1A7A3C"/>
          </a:solidFill>
          <a:ln w="12700">
            <a:solidFill>
              <a:srgbClr val="1A7A3C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2633472" y="323697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7A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4" name="Shape 29"/>
          <p:cNvSpPr/>
          <p:nvPr/>
        </p:nvSpPr>
        <p:spPr>
          <a:xfrm>
            <a:off x="3072384" y="3246120"/>
            <a:ext cx="274320" cy="274320"/>
          </a:xfrm>
          <a:prstGeom prst="ellipse">
            <a:avLst/>
          </a:prstGeom>
          <a:solidFill>
            <a:srgbClr val="EDF7F1"/>
          </a:solidFill>
          <a:ln w="5080">
            <a:solidFill>
              <a:srgbClr val="1A7A3C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6392" y="3310128"/>
            <a:ext cx="146304" cy="14630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2633472" y="360273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"good enough" early</a:t>
            </a:r>
            <a:endParaRPr lang="en-US" sz="980" dirty="0"/>
          </a:p>
        </p:txBody>
      </p:sp>
      <p:sp>
        <p:nvSpPr>
          <p:cNvPr id="37" name="Shape 31"/>
          <p:cNvSpPr/>
          <p:nvPr/>
        </p:nvSpPr>
        <p:spPr>
          <a:xfrm>
            <a:off x="2633472" y="3931920"/>
            <a:ext cx="1645920" cy="0"/>
          </a:xfrm>
          <a:prstGeom prst="line">
            <a:avLst/>
          </a:prstGeom>
          <a:noFill/>
          <a:ln w="5080">
            <a:solidFill>
              <a:srgbClr val="E0E0E0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2633472" y="3986784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Agree upfront on what success looks like. Without a shared bar, AI projects stall in endless refinement loops.</a:t>
            </a:r>
            <a:endParaRPr lang="en-US" sz="800" dirty="0"/>
          </a:p>
        </p:txBody>
      </p:sp>
      <p:sp>
        <p:nvSpPr>
          <p:cNvPr id="39" name="Shape 33"/>
          <p:cNvSpPr/>
          <p:nvPr/>
        </p:nvSpPr>
        <p:spPr>
          <a:xfrm>
            <a:off x="4700016" y="420624"/>
            <a:ext cx="4261104" cy="4315968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800600" y="347472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C8102E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9000" dirty="0"/>
          </a:p>
        </p:txBody>
      </p:sp>
      <p:sp>
        <p:nvSpPr>
          <p:cNvPr id="41" name="Text 35"/>
          <p:cNvSpPr/>
          <p:nvPr/>
        </p:nvSpPr>
        <p:spPr>
          <a:xfrm>
            <a:off x="4892040" y="1170432"/>
            <a:ext cx="389534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 starting points,</a:t>
            </a:r>
            <a:endParaRPr lang="en-US" sz="2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answers.</a:t>
            </a:r>
            <a:endParaRPr lang="en-US" sz="2200" dirty="0"/>
          </a:p>
        </p:txBody>
      </p:sp>
      <p:sp>
        <p:nvSpPr>
          <p:cNvPr id="42" name="Shape 36"/>
          <p:cNvSpPr/>
          <p:nvPr/>
        </p:nvSpPr>
        <p:spPr>
          <a:xfrm>
            <a:off x="4892040" y="2066544"/>
            <a:ext cx="1280160" cy="502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4892040" y="2176272"/>
            <a:ext cx="384048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 value comes from this room — your project experience, your client context, your ideas on what could actually work.</a:t>
            </a: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endParaRPr lang="en-US" sz="105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resonates? What's missing? Where would you start?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4892040" y="3584448"/>
            <a:ext cx="3840480" cy="0"/>
          </a:xfrm>
          <a:prstGeom prst="line">
            <a:avLst/>
          </a:prstGeom>
          <a:noFill/>
          <a:ln w="7620">
            <a:solidFill>
              <a:srgbClr val="333333"/>
            </a:solidFill>
            <a:prstDash val="solid"/>
          </a:ln>
        </p:spPr>
      </p:sp>
      <p:pic>
        <p:nvPicPr>
          <p:cNvPr id="4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712464"/>
            <a:ext cx="329184" cy="329184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5303520" y="37124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explore ideas &amp; possibilities — </a:t>
            </a:r>
            <a:pPr indent="0" marL="0">
              <a:buNone/>
            </a:pPr>
            <a:r>
              <a:rPr lang="en-US" sz="11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together.</a:t>
            </a:r>
            <a:endParaRPr lang="en-US" sz="1100" dirty="0"/>
          </a:p>
        </p:txBody>
      </p:sp>
      <p:sp>
        <p:nvSpPr>
          <p:cNvPr id="47" name="Shape 40"/>
          <p:cNvSpPr/>
          <p:nvPr/>
        </p:nvSpPr>
        <p:spPr>
          <a:xfrm>
            <a:off x="457200" y="4919472"/>
            <a:ext cx="4078224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457200" y="4956048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Copyright © 2026 Accenture. All rights reserved.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2026-03-14T08:57:56Z</dcterms:created>
  <dcterms:modified xsi:type="dcterms:W3CDTF">2026-03-14T08:57:56Z</dcterms:modified>
</cp:coreProperties>
</file>